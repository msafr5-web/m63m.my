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Tajawal" panose="00000500000000000000" pitchFamily="2" charset="-78"/>
      <p:regular r:id="rId15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278E1314-0F93-7049-86B6-CA308C573B0F}">
          <p14:sldIdLst>
            <p14:sldId id="256"/>
            <p14:sldId id="257"/>
          </p14:sldIdLst>
        </p14:section>
        <p14:section name="المنصة" id="{92FA4D51-1214-B1C6-C165-6E8844D20728}">
          <p14:sldIdLst>
            <p14:sldId id="258"/>
            <p14:sldId id="259"/>
          </p14:sldIdLst>
        </p14:section>
        <p14:section name="سوق الطلبات" id="{B8B6FE2B-135C-07BA-7B11-6B2C913D0319}">
          <p14:sldIdLst>
            <p14:sldId id="260"/>
            <p14:sldId id="261"/>
          </p14:sldIdLst>
        </p14:section>
        <p14:section name="الاستشارات" id="{16BB0A63-1F08-6FC0-68AB-1ADBB1F48FA3}">
          <p14:sldIdLst>
            <p14:sldId id="262"/>
            <p14:sldId id="263"/>
            <p14:sldId id="264"/>
          </p14:sldIdLst>
        </p14:section>
        <p14:section name="التجربة" id="{F853F4FD-FECB-7755-6EC1-9B7A51209AF5}">
          <p14:sldIdLst>
            <p14:sldId id="265"/>
            <p14:sldId id="266"/>
          </p14:sldIdLst>
        </p14:section>
        <p14:section name="الختام" id="{1168EB0B-C7FD-341B-57CD-9C0C7431564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520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رحّب بالحضور وقدّم منصة «مطعم»: منصة واحدة لقطاع المطاعم والمقاهي في السعودية تجمع الاستشارات والوظائف والمعدات والموردين.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المشكلة: أهل القطاع يعتمدون على قنوات واتساب متفرقة تضيع فيها الفرص. مطعم تحافظ على روح هذه القنوات لكن بتنظيم وبحث وحجز مباشر.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الخدمات الثلاث: الاستشارات، سوق الطلبات، والانتشار على منصات التواصل. نبّه أن النشر التلقائي على حسابات المنصة قيد الإعداد.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أنواع الحسابات: صاحب المنشأة، المستشار، المورد/الباحث عن عمل. حساب المدير لا يُسجَّل ذاتياً.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قسم له حقوله الخاصة: الراتب والخبرة للوظائف، الحالة والعلامة التجارية للمعدات، الحد الأدنى للطلب عند الموردين. البحث يشمل العنوان والوصف.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اعرض خطوات النشر. الطلب يظهر في السوق فوراً، ويمكن إغلاقه وإعادة تفعيله من صفحته. بيانات التواصل لا تظهر للزوار.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خطوات الحجز الأربع. الموعد يُثبت فور التأكيد دون انتظار موافقة، والجلسة تظهر في لوحة التحكم مع رابطها.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المستشار وحده يبدأ الجلسة وينهيها، والطرفان يستطيعان الإلغاء قبل الاكتمال. الإلغاء يعيد الموعد متاحاً. الجلسة المكتملة أو الملغاة لا تعود لحالة سابقة.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موجّهة للمستشارين: الاعتماد، إدارة المواعيد والأسعار، وإدارة الجلسات من لوحة التحكم.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لوحة التحكم تتكيف مع نوع الحساب: صاحب المنشأة يرى استشاراته وطلباته، والمستشار يرى الحجوزات الواردة ولوحة إضافة المواعيد.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المنصة متجاوبة بالكامل مع الجوال. ركّز على الخصوصية: بيانات التواصل للمسجلين فقط، والجلسات لطرفيها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بدعوة للتسجيل المجاني. امسح الرمز لفتح المنصة مباشرة.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 rtl="1">
              <a:buNone/>
              <a:defRPr lang="ar-SA" altLang="en-US" sz="3400" b="1" dirty="0">
                <a:solidFill>
                  <a:srgbClr val="1B1816"/>
                </a:solidFill>
              </a:defRPr>
            </a:lvl1pPr>
          </a:lstStyle>
          <a:p>
            <a:pPr marL="0" indent="0" algn="r">
              <a:buNone/>
            </a:pPr>
            <a:endParaRPr lang="ar-SA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6291072"/>
            <a:ext cx="11094415" cy="0"/>
          </a:xfrm>
          <a:prstGeom prst="line">
            <a:avLst/>
          </a:prstGeom>
          <a:noFill/>
          <a:ln w="9525">
            <a:solidFill>
              <a:srgbClr val="E9E2D6"/>
            </a:solidFill>
            <a:prstDash val="solid"/>
          </a:ln>
        </p:spPr>
      </p:sp>
      <p:pic>
        <p:nvPicPr>
          <p:cNvPr id="4" name="Image 0" descr="C:/Users/abuhe/Desktop/my projects/M63m.my/marketing/assets/../logo/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601" y="6382512"/>
            <a:ext cx="965454" cy="3840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00161" y="64008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5550"/>
                </a:solidFill>
              </a:rPr>
              <a:t>m63m-my.vercel.app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B1816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 rtl="1">
              <a:buNone/>
              <a:defRPr lang="ar-SA" altLang="en-US" sz="3400" b="1" dirty="0">
                <a:solidFill>
                  <a:srgbClr val="FFFFFF"/>
                </a:solidFill>
              </a:defRPr>
            </a:lvl1pPr>
          </a:lstStyle>
          <a:p>
            <a:pPr marL="0" indent="0" algn="r">
              <a:buNone/>
            </a:pPr>
            <a:endParaRPr lang="ar-SA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B1816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tter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/Users/abuhe/Desktop/my projects/M63m.my/marketing/assets/../logo/logo-on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965" y="502920"/>
            <a:ext cx="1609090" cy="6400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760720" y="1600200"/>
            <a:ext cx="58823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b="1" dirty="0">
                <a:solidFill>
                  <a:srgbClr val="D4B87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العرض التعريفي للمنصة</a:t>
            </a:r>
            <a:endParaRPr lang="ar-SA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5760720" y="2011680"/>
            <a:ext cx="58823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95000"/>
              </a:lnSpc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ما يحتاجه مطعمك</a:t>
            </a:r>
            <a:endParaRPr lang="ar-SA" sz="4000" dirty="0"/>
          </a:p>
          <a:p>
            <a:pPr marL="0" indent="0" algn="r">
              <a:lnSpc>
                <a:spcPct val="95000"/>
              </a:lnSpc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</a:t>
            </a:r>
            <a:r>
              <a:rPr lang="ar-SA" altLang="en-US" sz="4000" b="1" dirty="0">
                <a:solidFill>
                  <a:srgbClr val="C5A05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واحد</a:t>
            </a:r>
            <a:endParaRPr lang="ar-SA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760720" y="3657600"/>
            <a:ext cx="5882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rgbClr val="CBC1B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منصة سعودية متخصصة تجمع أصحاب المطاعم والمقاهي بالمستشارين الخبراء والموردين والباحثين عن عمل، بطريقة منظّمة وقابلة للبحث.</a:t>
            </a:r>
            <a:endParaRPr lang="ar-SA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760720" y="580644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1600" b="1" dirty="0">
                <a:solidFill>
                  <a:srgbClr val="D4B87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m63m-my.vercel.app</a:t>
            </a:r>
            <a:endParaRPr lang="en-US" sz="1600" dirty="0"/>
          </a:p>
        </p:txBody>
      </p:sp>
      <p:sp>
        <p:nvSpPr>
          <p:cNvPr id="8" name="cover-shot-frame"/>
          <p:cNvSpPr/>
          <p:nvPr/>
        </p:nvSpPr>
        <p:spPr>
          <a:xfrm>
            <a:off x="548640" y="1737360"/>
            <a:ext cx="4892040" cy="3295269"/>
          </a:xfrm>
          <a:prstGeom prst="roundRect">
            <a:avLst>
              <a:gd name="adj" fmla="val 3330"/>
            </a:avLst>
          </a:prstGeom>
          <a:solidFill>
            <a:srgbClr val="221F1E"/>
          </a:solidFill>
          <a:ln w="9525">
            <a:solidFill>
              <a:srgbClr val="2E2A27"/>
            </a:solidFill>
            <a:prstDash val="solid"/>
          </a:ln>
          <a:effectLst>
            <a:outerShdw blurRad="228600" dist="76200" dir="5400000" algn="bl" rotWithShape="0">
              <a:srgbClr val="1B1816">
                <a:alpha val="2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239512" y="181965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111496" y="181965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983480" y="181965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pic>
        <p:nvPicPr>
          <p:cNvPr id="12" name="Image 2" descr="cover-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975104"/>
            <a:ext cx="4855464" cy="3039237"/>
          </a:xfrm>
          <a:prstGeom prst="rect">
            <a:avLst/>
          </a:prstGeom>
        </p:spPr>
      </p:pic>
      <p:sp>
        <p:nvSpPr>
          <p:cNvPr id="1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ar-SA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8F6F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مطعم؟</a:t>
            </a:r>
            <a:endParaRPr lang="ar-SA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1B1816"/>
                </a:solidFill>
              </a:rPr>
              <a:t>من قنوات متفرقة إلى منصة واحدة منظّمة</a:t>
            </a:r>
            <a:endParaRPr lang="ar-SA" sz="3400" dirty="0"/>
          </a:p>
        </p:txBody>
      </p:sp>
      <p:sp>
        <p:nvSpPr>
          <p:cNvPr id="4" name="col-before"/>
          <p:cNvSpPr/>
          <p:nvPr/>
        </p:nvSpPr>
        <p:spPr>
          <a:xfrm>
            <a:off x="6324448" y="1600200"/>
            <a:ext cx="5318608" cy="4023360"/>
          </a:xfrm>
          <a:prstGeom prst="roundRect">
            <a:avLst>
              <a:gd name="adj" fmla="val 3636"/>
            </a:avLst>
          </a:prstGeom>
          <a:solidFill>
            <a:srgbClr val="F4F0E8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5" name="tile-inbox"/>
          <p:cNvSpPr/>
          <p:nvPr/>
        </p:nvSpPr>
        <p:spPr>
          <a:xfrm>
            <a:off x="10774375" y="18745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6" name="Image 0" descr="in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6107" y="20162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44488" y="1938528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اليوم: قنوات واتساب متفرقة</a:t>
            </a:r>
            <a:endParaRPr lang="ar-SA" sz="2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4687" y="279806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644488" y="2743200"/>
            <a:ext cx="422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الفرص والوظائف تضيع بين عشرات الرسائل</a:t>
            </a:r>
            <a:endParaRPr lang="ar-SA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4687" y="351129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644488" y="3456432"/>
            <a:ext cx="422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بحث ولا تصنيف حسب نوع الطلب</a:t>
            </a:r>
            <a:endParaRPr lang="ar-SA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4687" y="4224528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644488" y="4169664"/>
            <a:ext cx="422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مع الخبير يعتمد على المعارف</a:t>
            </a:r>
            <a:endParaRPr lang="ar-SA" sz="16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4687" y="493776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644488" y="4882896"/>
            <a:ext cx="422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سجل للاستشارات والطلبات السابقة</a:t>
            </a:r>
            <a:endParaRPr lang="ar-SA" sz="1600" dirty="0"/>
          </a:p>
        </p:txBody>
      </p:sp>
      <p:sp>
        <p:nvSpPr>
          <p:cNvPr id="16" name="col-after"/>
          <p:cNvSpPr/>
          <p:nvPr/>
        </p:nvSpPr>
        <p:spPr>
          <a:xfrm>
            <a:off x="548640" y="1600200"/>
            <a:ext cx="5318608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17" name="tile-check-circle"/>
          <p:cNvSpPr/>
          <p:nvPr/>
        </p:nvSpPr>
        <p:spPr>
          <a:xfrm>
            <a:off x="4998568" y="18745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B1816"/>
          </a:solidFill>
          <a:ln w="9525">
            <a:solidFill>
              <a:srgbClr val="1B1816"/>
            </a:solidFill>
            <a:prstDash val="solid"/>
          </a:ln>
        </p:spPr>
      </p:sp>
      <p:pic>
        <p:nvPicPr>
          <p:cNvPr id="18" name="Image 5" descr="check-circ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0300" y="2016252"/>
            <a:ext cx="283464" cy="28346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68680" y="1938528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 مطعم: كل شيء في مكانه</a:t>
            </a:r>
            <a:endParaRPr lang="ar-SA" sz="2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8880" y="2798064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68680" y="2743200"/>
            <a:ext cx="422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rgbClr val="2C2C2C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أربعة أقسام متخصصة مع بحث وتصفية</a:t>
            </a:r>
            <a:endParaRPr lang="ar-SA" sz="16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8880" y="3511296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868680" y="3456432"/>
            <a:ext cx="422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rgbClr val="2C2C2C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حقول خاصة بكل قسم: الراتب، الحالة، الكمية</a:t>
            </a:r>
            <a:endParaRPr lang="ar-SA" sz="16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8880" y="4224528"/>
            <a:ext cx="274320" cy="27432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868680" y="4169664"/>
            <a:ext cx="422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rgbClr val="2C2C2C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حجز مباشر من جدول المستشار المعتمد</a:t>
            </a:r>
            <a:endParaRPr lang="ar-SA" sz="16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8880" y="4937760"/>
            <a:ext cx="274320" cy="27432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868680" y="4882896"/>
            <a:ext cx="422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rgbClr val="2C2C2C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لوحة تحكم تحفظ جلساتك وطلباتك</a:t>
            </a:r>
            <a:endParaRPr lang="ar-SA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B1816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8F6F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تقدم المنصة</a:t>
            </a:r>
            <a:endParaRPr lang="ar-SA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1B1816"/>
                </a:solidFill>
              </a:rPr>
              <a:t>ثلاث خدمات في منصة واحدة</a:t>
            </a:r>
            <a:endParaRPr lang="ar-SA" sz="3400" dirty="0"/>
          </a:p>
        </p:txBody>
      </p:sp>
      <p:sp>
        <p:nvSpPr>
          <p:cNvPr id="4" name="svc-chat"/>
          <p:cNvSpPr/>
          <p:nvPr/>
        </p:nvSpPr>
        <p:spPr>
          <a:xfrm>
            <a:off x="8158277" y="1691640"/>
            <a:ext cx="3484778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5" name="tile-chat"/>
          <p:cNvSpPr/>
          <p:nvPr/>
        </p:nvSpPr>
        <p:spPr>
          <a:xfrm>
            <a:off x="10682935" y="201168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B1816"/>
          </a:solidFill>
          <a:ln w="9525">
            <a:solidFill>
              <a:srgbClr val="1B1816"/>
            </a:solidFill>
            <a:prstDash val="solid"/>
          </a:ln>
        </p:spPr>
      </p:sp>
      <p:pic>
        <p:nvPicPr>
          <p:cNvPr id="6" name="Image 0" descr="ch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1243" y="2189988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78317" y="297180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استشارات الخبراء</a:t>
            </a:r>
            <a:endParaRPr lang="ar-SA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478317" y="3566160"/>
            <a:ext cx="28446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ar-SA" altLang="en-US" sz="15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احجز جلسة مع مستشار معتمد في التشغيل وتقليل الهدر والتسعير وافتتاح الفروع، مباشرة من جدول مواعيده.</a:t>
            </a:r>
            <a:endParaRPr lang="ar-SA" sz="1500" dirty="0"/>
          </a:p>
        </p:txBody>
      </p:sp>
      <p:sp>
        <p:nvSpPr>
          <p:cNvPr id="9" name="svc-layers"/>
          <p:cNvSpPr/>
          <p:nvPr/>
        </p:nvSpPr>
        <p:spPr>
          <a:xfrm>
            <a:off x="4353458" y="1691640"/>
            <a:ext cx="3484778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10" name="tile-layers"/>
          <p:cNvSpPr/>
          <p:nvPr/>
        </p:nvSpPr>
        <p:spPr>
          <a:xfrm>
            <a:off x="6878117" y="201168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B1816"/>
          </a:solidFill>
          <a:ln w="9525">
            <a:solidFill>
              <a:srgbClr val="1B1816"/>
            </a:solidFill>
            <a:prstDash val="solid"/>
          </a:ln>
        </p:spPr>
      </p:sp>
      <p:pic>
        <p:nvPicPr>
          <p:cNvPr id="11" name="Image 1" descr="lay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425" y="2189988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73498" y="297180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سوق الطلبات</a:t>
            </a:r>
            <a:endParaRPr lang="ar-SA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73498" y="3566160"/>
            <a:ext cx="28446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ar-SA" altLang="en-US" sz="15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انشر طلبك أو تصفّح طلبات غيرك في أربعة أقسام: الوظائف، المعدات، الموردون، والخدمات المساندة.</a:t>
            </a:r>
            <a:endParaRPr lang="ar-SA" sz="1500" dirty="0"/>
          </a:p>
        </p:txBody>
      </p:sp>
      <p:sp>
        <p:nvSpPr>
          <p:cNvPr id="14" name="svc-share"/>
          <p:cNvSpPr/>
          <p:nvPr/>
        </p:nvSpPr>
        <p:spPr>
          <a:xfrm>
            <a:off x="548640" y="1691640"/>
            <a:ext cx="3484778" cy="3429000"/>
          </a:xfrm>
          <a:prstGeom prst="roundRect">
            <a:avLst>
              <a:gd name="adj" fmla="val 4267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15" name="tile-share"/>
          <p:cNvSpPr/>
          <p:nvPr/>
        </p:nvSpPr>
        <p:spPr>
          <a:xfrm>
            <a:off x="3073298" y="2011680"/>
            <a:ext cx="713232" cy="713232"/>
          </a:xfrm>
          <a:prstGeom prst="roundRect">
            <a:avLst>
              <a:gd name="adj" fmla="val 17949"/>
            </a:avLst>
          </a:prstGeom>
          <a:solidFill>
            <a:srgbClr val="1B1816"/>
          </a:solidFill>
          <a:ln w="9525">
            <a:solidFill>
              <a:srgbClr val="1B1816"/>
            </a:solidFill>
            <a:prstDash val="solid"/>
          </a:ln>
        </p:spPr>
      </p:sp>
      <p:pic>
        <p:nvPicPr>
          <p:cNvPr id="16" name="Image 2" descr="sha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1606" y="2189988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8680" y="297180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انتشار أوسع</a:t>
            </a:r>
            <a:endParaRPr lang="ar-SA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3566160"/>
            <a:ext cx="28446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ar-SA" altLang="en-US" sz="15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شارك طلبك بضغطة على X وفيسبوك وواتساب. النشر التلقائي على حسابات المنصة قريباً.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B1816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8F6F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لمن المنصة؟</a:t>
            </a:r>
            <a:endParaRPr lang="ar-SA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1B1816"/>
                </a:solidFill>
              </a:rPr>
              <a:t>لكل طرف في القطاع لوحة تحكم تناسبه</a:t>
            </a:r>
            <a:endParaRPr lang="ar-SA" sz="3400" dirty="0"/>
          </a:p>
        </p:txBody>
      </p:sp>
      <p:sp>
        <p:nvSpPr>
          <p:cNvPr id="4" name="role-coffee"/>
          <p:cNvSpPr/>
          <p:nvPr/>
        </p:nvSpPr>
        <p:spPr>
          <a:xfrm>
            <a:off x="6255868" y="1645920"/>
            <a:ext cx="5387188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5" name="tile-coffee"/>
          <p:cNvSpPr/>
          <p:nvPr/>
        </p:nvSpPr>
        <p:spPr>
          <a:xfrm>
            <a:off x="10774375" y="1965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6" name="Image 0" descr="coff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6107" y="210769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75908" y="1993392"/>
            <a:ext cx="4015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صاحب المنشأة</a:t>
            </a:r>
            <a:endParaRPr lang="ar-SA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575908" y="2514600"/>
            <a:ext cx="40155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مالك مطعم أو كافيه أو رائد أعمال: يحجز الاستشارات، وينشر طلبات الموظفين والمعدات والتوريد.</a:t>
            </a:r>
            <a:endParaRPr lang="ar-SA" sz="1450" dirty="0"/>
          </a:p>
        </p:txBody>
      </p:sp>
      <p:sp>
        <p:nvSpPr>
          <p:cNvPr id="9" name="role-chat"/>
          <p:cNvSpPr/>
          <p:nvPr/>
        </p:nvSpPr>
        <p:spPr>
          <a:xfrm>
            <a:off x="548640" y="1645920"/>
            <a:ext cx="5387188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10" name="tile-chat"/>
          <p:cNvSpPr/>
          <p:nvPr/>
        </p:nvSpPr>
        <p:spPr>
          <a:xfrm>
            <a:off x="5067148" y="1965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11" name="Image 1" descr="cha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880" y="210769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8680" y="1993392"/>
            <a:ext cx="4015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المستشار الخبير</a:t>
            </a:r>
            <a:endParaRPr lang="ar-SA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514600"/>
            <a:ext cx="40155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يعرض مواعيده وأسعاره، ويستقبل الحجوزات ويدير جلساته بعد اعتماد إدارة المنصة لخبرته.</a:t>
            </a:r>
            <a:endParaRPr lang="ar-SA" sz="1450" dirty="0"/>
          </a:p>
        </p:txBody>
      </p:sp>
      <p:sp>
        <p:nvSpPr>
          <p:cNvPr id="14" name="role-briefcase"/>
          <p:cNvSpPr/>
          <p:nvPr/>
        </p:nvSpPr>
        <p:spPr>
          <a:xfrm>
            <a:off x="6255868" y="3840480"/>
            <a:ext cx="5387188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15" name="tile-briefcase"/>
          <p:cNvSpPr/>
          <p:nvPr/>
        </p:nvSpPr>
        <p:spPr>
          <a:xfrm>
            <a:off x="10774375" y="41605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16" name="Image 2" descr="briefc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6107" y="43022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75908" y="4187952"/>
            <a:ext cx="4015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المورد والباحث عن عمل</a:t>
            </a:r>
            <a:endParaRPr lang="ar-SA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575908" y="4709160"/>
            <a:ext cx="40155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يعرض المعدات والمنتجات والخدمات، ويتواصل مع أصحاب الوظائف المعلنة مباشرة.</a:t>
            </a:r>
            <a:endParaRPr lang="ar-SA" sz="1450" dirty="0"/>
          </a:p>
        </p:txBody>
      </p:sp>
      <p:sp>
        <p:nvSpPr>
          <p:cNvPr id="19" name="role-shield"/>
          <p:cNvSpPr/>
          <p:nvPr/>
        </p:nvSpPr>
        <p:spPr>
          <a:xfrm>
            <a:off x="548640" y="3840480"/>
            <a:ext cx="5387188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20" name="tile-shield"/>
          <p:cNvSpPr/>
          <p:nvPr/>
        </p:nvSpPr>
        <p:spPr>
          <a:xfrm>
            <a:off x="5067148" y="41605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21" name="Image 3" descr="shiel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8880" y="430225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4187952"/>
            <a:ext cx="4015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المنصة</a:t>
            </a:r>
            <a:endParaRPr lang="ar-SA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4709160"/>
            <a:ext cx="40155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تراجع طلبات انضمام المستشارين وتعتمدها، وتراقب جودة المحتوى المنشور.</a:t>
            </a:r>
            <a:endParaRPr lang="ar-SA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B1816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8F6F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سوق الطلبات</a:t>
            </a:r>
            <a:endParaRPr lang="ar-SA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1B1816"/>
                </a:solidFill>
              </a:rPr>
              <a:t>أربعة أقسام تغطي تشغيل مطعمك</a:t>
            </a:r>
            <a:endParaRPr lang="ar-SA" sz="3400" dirty="0"/>
          </a:p>
        </p:txBody>
      </p:sp>
      <p:sp>
        <p:nvSpPr>
          <p:cNvPr id="4" name="cat-chef"/>
          <p:cNvSpPr/>
          <p:nvPr/>
        </p:nvSpPr>
        <p:spPr>
          <a:xfrm>
            <a:off x="7802575" y="1645920"/>
            <a:ext cx="384048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5" name="tile-chef"/>
          <p:cNvSpPr/>
          <p:nvPr/>
        </p:nvSpPr>
        <p:spPr>
          <a:xfrm>
            <a:off x="10893247" y="1828800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6" name="Image 0" descr="che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0407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31175" y="17739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الوظائف</a:t>
            </a:r>
            <a:endParaRPr lang="ar-SA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31175" y="2130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طهاة، باريستا، مدراء فروع وطاقم خدمة</a:t>
            </a:r>
            <a:endParaRPr lang="ar-SA" sz="1250" dirty="0"/>
          </a:p>
        </p:txBody>
      </p:sp>
      <p:sp>
        <p:nvSpPr>
          <p:cNvPr id="9" name="cat-equipment"/>
          <p:cNvSpPr/>
          <p:nvPr/>
        </p:nvSpPr>
        <p:spPr>
          <a:xfrm>
            <a:off x="7802575" y="2761488"/>
            <a:ext cx="384048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10" name="tile-equipment"/>
          <p:cNvSpPr/>
          <p:nvPr/>
        </p:nvSpPr>
        <p:spPr>
          <a:xfrm>
            <a:off x="10893247" y="2944368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11" name="Image 1" descr="equipm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0407" y="30815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31175" y="28895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الأجهزة والمعدات</a:t>
            </a:r>
            <a:endParaRPr lang="ar-SA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031175" y="32461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معدات مطابخ، مكائن قهوة، كاشير وتبريد</a:t>
            </a:r>
            <a:endParaRPr lang="ar-SA" sz="1250" dirty="0"/>
          </a:p>
        </p:txBody>
      </p:sp>
      <p:sp>
        <p:nvSpPr>
          <p:cNvPr id="14" name="cat-supplies"/>
          <p:cNvSpPr/>
          <p:nvPr/>
        </p:nvSpPr>
        <p:spPr>
          <a:xfrm>
            <a:off x="7802575" y="3877056"/>
            <a:ext cx="384048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15" name="tile-supplies"/>
          <p:cNvSpPr/>
          <p:nvPr/>
        </p:nvSpPr>
        <p:spPr>
          <a:xfrm>
            <a:off x="10893247" y="4059936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16" name="Image 2" descr="suppli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0407" y="419709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31175" y="40050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المنتجات والموردون</a:t>
            </a:r>
            <a:endParaRPr lang="ar-SA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031175" y="4361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مواد غذائية، بن، تغليف ومكونات</a:t>
            </a:r>
            <a:endParaRPr lang="ar-SA" sz="1250" dirty="0"/>
          </a:p>
        </p:txBody>
      </p:sp>
      <p:sp>
        <p:nvSpPr>
          <p:cNvPr id="19" name="cat-services"/>
          <p:cNvSpPr/>
          <p:nvPr/>
        </p:nvSpPr>
        <p:spPr>
          <a:xfrm>
            <a:off x="7802575" y="4992624"/>
            <a:ext cx="384048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20" name="tile-services"/>
          <p:cNvSpPr/>
          <p:nvPr/>
        </p:nvSpPr>
        <p:spPr>
          <a:xfrm>
            <a:off x="10893247" y="5175504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21" name="Image 3" descr="servic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0407" y="531266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31175" y="5120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الخدمات المساندة</a:t>
            </a:r>
            <a:endParaRPr lang="ar-SA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031175" y="54772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تصميم داخلي، تراخيص حكومية وتسويق</a:t>
            </a:r>
            <a:endParaRPr lang="ar-SA" sz="1250" dirty="0"/>
          </a:p>
        </p:txBody>
      </p:sp>
      <p:sp>
        <p:nvSpPr>
          <p:cNvPr id="24" name="market-shot-frame"/>
          <p:cNvSpPr/>
          <p:nvPr/>
        </p:nvSpPr>
        <p:spPr>
          <a:xfrm>
            <a:off x="548640" y="1645920"/>
            <a:ext cx="6378854" cy="4224528"/>
          </a:xfrm>
          <a:prstGeom prst="roundRect">
            <a:avLst>
              <a:gd name="adj" fmla="val 2597"/>
            </a:avLst>
          </a:prstGeom>
          <a:solidFill>
            <a:srgbClr val="221F1E"/>
          </a:solidFill>
          <a:ln w="9525">
            <a:solidFill>
              <a:srgbClr val="2E2A27"/>
            </a:solidFill>
            <a:prstDash val="solid"/>
          </a:ln>
          <a:effectLst>
            <a:outerShdw blurRad="228600" dist="76200" dir="5400000" algn="bl" rotWithShape="0">
              <a:srgbClr val="1B1816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726326" y="172821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598310" y="172821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70294" y="172821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pic>
        <p:nvPicPr>
          <p:cNvPr id="28" name="Image 4" descr="market-sh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1883664"/>
            <a:ext cx="6342278" cy="3968496"/>
          </a:xfrm>
          <a:prstGeom prst="rect">
            <a:avLst/>
          </a:prstGeom>
        </p:spPr>
      </p:pic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B1816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8F6F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نشر طلب</a:t>
            </a:r>
            <a:endParaRPr lang="ar-SA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1B1816"/>
                </a:solidFill>
              </a:rPr>
              <a:t>انشر طلبك في دقيقة بأربع خطوات</a:t>
            </a:r>
            <a:endParaRPr lang="ar-SA" sz="3400" dirty="0"/>
          </a:p>
        </p:txBody>
      </p:sp>
      <p:sp>
        <p:nvSpPr>
          <p:cNvPr id="4" name="step-1"/>
          <p:cNvSpPr/>
          <p:nvPr/>
        </p:nvSpPr>
        <p:spPr>
          <a:xfrm>
            <a:off x="9075191" y="1600200"/>
            <a:ext cx="2567864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57255" y="18105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B1816"/>
          </a:solidFill>
          <a:ln w="12700">
            <a:solidFill>
              <a:srgbClr val="1B18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57255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D4B87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303791" y="2395728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اختر القسم</a:t>
            </a:r>
            <a:endParaRPr lang="ar-SA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03791" y="2761488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وظيفة، معدات، توريد أو خدمة</a:t>
            </a:r>
            <a:endParaRPr lang="ar-SA" sz="1300" dirty="0"/>
          </a:p>
        </p:txBody>
      </p:sp>
      <p:sp>
        <p:nvSpPr>
          <p:cNvPr id="9" name="step-2"/>
          <p:cNvSpPr/>
          <p:nvPr/>
        </p:nvSpPr>
        <p:spPr>
          <a:xfrm>
            <a:off x="6233008" y="1600200"/>
            <a:ext cx="2567864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115071" y="18105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B1816"/>
          </a:solidFill>
          <a:ln w="12700">
            <a:solidFill>
              <a:srgbClr val="1B18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15071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D4B87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395728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اكتب التفاصيل</a:t>
            </a:r>
            <a:endParaRPr lang="ar-SA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761488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العنوان والوصف والسعر</a:t>
            </a:r>
            <a:endParaRPr lang="ar-SA" sz="1300" dirty="0"/>
          </a:p>
        </p:txBody>
      </p:sp>
      <p:sp>
        <p:nvSpPr>
          <p:cNvPr id="14" name="step-3"/>
          <p:cNvSpPr/>
          <p:nvPr/>
        </p:nvSpPr>
        <p:spPr>
          <a:xfrm>
            <a:off x="3390824" y="1600200"/>
            <a:ext cx="2567864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72888" y="18105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B1816"/>
          </a:solidFill>
          <a:ln w="12700">
            <a:solidFill>
              <a:srgbClr val="1B18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72888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D4B87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619424" y="2395728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أكمل حقول القسم</a:t>
            </a:r>
            <a:endParaRPr lang="ar-SA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619424" y="2761488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تتغير حسب نوع الطلب</a:t>
            </a:r>
            <a:endParaRPr lang="ar-SA" sz="1300" dirty="0"/>
          </a:p>
        </p:txBody>
      </p:sp>
      <p:sp>
        <p:nvSpPr>
          <p:cNvPr id="19" name="step-4"/>
          <p:cNvSpPr/>
          <p:nvPr/>
        </p:nvSpPr>
        <p:spPr>
          <a:xfrm>
            <a:off x="548640" y="1600200"/>
            <a:ext cx="2567864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30704" y="18105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B1816"/>
          </a:solidFill>
          <a:ln w="12700">
            <a:solidFill>
              <a:srgbClr val="1B181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3070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D4B87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2395728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انشر وشارك</a:t>
            </a:r>
            <a:endParaRPr lang="ar-SA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2761488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يظهر فوراً في السوق</a:t>
            </a:r>
            <a:endParaRPr lang="ar-SA" sz="1300" dirty="0"/>
          </a:p>
        </p:txBody>
      </p:sp>
      <p:sp>
        <p:nvSpPr>
          <p:cNvPr id="24" name="item-shot-frame"/>
          <p:cNvSpPr/>
          <p:nvPr/>
        </p:nvSpPr>
        <p:spPr>
          <a:xfrm>
            <a:off x="548640" y="3520440"/>
            <a:ext cx="3931920" cy="2695194"/>
          </a:xfrm>
          <a:prstGeom prst="roundRect">
            <a:avLst>
              <a:gd name="adj" fmla="val 4071"/>
            </a:avLst>
          </a:prstGeom>
          <a:solidFill>
            <a:srgbClr val="221F1E"/>
          </a:solidFill>
          <a:ln w="9525">
            <a:solidFill>
              <a:srgbClr val="2E2A27"/>
            </a:solidFill>
            <a:prstDash val="solid"/>
          </a:ln>
          <a:effectLst>
            <a:outerShdw blurRad="228600" dist="76200" dir="5400000" algn="bl" rotWithShape="0">
              <a:srgbClr val="1B1816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79392" y="360273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51376" y="360273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23360" y="360273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pic>
        <p:nvPicPr>
          <p:cNvPr id="28" name="Image 0" descr="item-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758184"/>
            <a:ext cx="3895344" cy="2439162"/>
          </a:xfrm>
          <a:prstGeom prst="rect">
            <a:avLst/>
          </a:prstGeom>
        </p:spPr>
      </p:pic>
      <p:sp>
        <p:nvSpPr>
          <p:cNvPr id="29" name="privacy-callout"/>
          <p:cNvSpPr/>
          <p:nvPr/>
        </p:nvSpPr>
        <p:spPr>
          <a:xfrm>
            <a:off x="4800600" y="3520440"/>
            <a:ext cx="6842455" cy="2194560"/>
          </a:xfrm>
          <a:prstGeom prst="roundRect">
            <a:avLst>
              <a:gd name="adj" fmla="val 6667"/>
            </a:avLst>
          </a:prstGeom>
          <a:solidFill>
            <a:srgbClr val="FAF5EA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30" name="tile-shield"/>
          <p:cNvSpPr/>
          <p:nvPr/>
        </p:nvSpPr>
        <p:spPr>
          <a:xfrm>
            <a:off x="10774375" y="37947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31" name="Image 1" descr="shiel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6107" y="3936492"/>
            <a:ext cx="283464" cy="28346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5074920" y="384048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9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بيانات التواصل للأعضاء فقط</a:t>
            </a:r>
            <a:endParaRPr lang="ar-SA" sz="1900" dirty="0"/>
          </a:p>
        </p:txBody>
      </p:sp>
      <p:sp>
        <p:nvSpPr>
          <p:cNvPr id="33" name="Text 29"/>
          <p:cNvSpPr txBox="1"/>
          <p:nvPr/>
        </p:nvSpPr>
        <p:spPr>
          <a:xfrm>
            <a:off x="5074920" y="4343400"/>
            <a:ext cx="5608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جوالك وبريدك في صفحة طلبك يظهران للمسجلين فقط، حماية لك من الرسائل المزعجة. وبعد التوظيف أو البيع تغلق طلبك بضغطة، ويبقى في لوحة تحكمك.</a:t>
            </a:r>
            <a:endParaRPr lang="ar-SA" sz="14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B1816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8F6F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استشارات الخبراء</a:t>
            </a:r>
            <a:endParaRPr lang="ar-SA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1B1816"/>
                </a:solidFill>
              </a:rPr>
              <a:t>اسأل من جرّب قبلك، واحجز موعدك مباشرة</a:t>
            </a:r>
            <a:endParaRPr lang="ar-SA" sz="3400" dirty="0"/>
          </a:p>
        </p:txBody>
      </p:sp>
      <p:sp>
        <p:nvSpPr>
          <p:cNvPr id="4" name="bstep-1"/>
          <p:cNvSpPr/>
          <p:nvPr/>
        </p:nvSpPr>
        <p:spPr>
          <a:xfrm>
            <a:off x="11140135" y="1691640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1B1816"/>
          </a:solidFill>
          <a:ln w="12700">
            <a:solidFill>
              <a:srgbClr val="1B18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40135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D4B87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391595" y="2258568"/>
            <a:ext cx="0" cy="411480"/>
          </a:xfrm>
          <a:prstGeom prst="line">
            <a:avLst/>
          </a:prstGeom>
          <a:noFill/>
          <a:ln w="12700">
            <a:solidFill>
              <a:srgbClr val="E9E2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22415" y="167335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اختر المستشار</a:t>
            </a:r>
            <a:endParaRPr lang="ar-SA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22415" y="202082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بطاقته تعرض المواعيد المتاحة والسعر وأقرب موعد</a:t>
            </a:r>
            <a:endParaRPr lang="ar-SA" sz="1350" dirty="0"/>
          </a:p>
        </p:txBody>
      </p:sp>
      <p:sp>
        <p:nvSpPr>
          <p:cNvPr id="9" name="bstep-2"/>
          <p:cNvSpPr/>
          <p:nvPr/>
        </p:nvSpPr>
        <p:spPr>
          <a:xfrm>
            <a:off x="11140135" y="2715768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1B1816"/>
          </a:solidFill>
          <a:ln w="12700">
            <a:solidFill>
              <a:srgbClr val="1B18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40135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D4B87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391595" y="3282696"/>
            <a:ext cx="0" cy="411480"/>
          </a:xfrm>
          <a:prstGeom prst="line">
            <a:avLst/>
          </a:prstGeom>
          <a:noFill/>
          <a:ln w="12700">
            <a:solidFill>
              <a:srgbClr val="E9E2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22415" y="26974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حدّد الموعد</a:t>
            </a:r>
            <a:endParaRPr lang="ar-SA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22415" y="304495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المواعيد مرتبة حسب اليوم وبتوقيت الرياض</a:t>
            </a:r>
            <a:endParaRPr lang="ar-SA" sz="1350" dirty="0"/>
          </a:p>
        </p:txBody>
      </p:sp>
      <p:sp>
        <p:nvSpPr>
          <p:cNvPr id="14" name="bstep-3"/>
          <p:cNvSpPr/>
          <p:nvPr/>
        </p:nvSpPr>
        <p:spPr>
          <a:xfrm>
            <a:off x="11140135" y="3739896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1B1816"/>
          </a:solidFill>
          <a:ln w="12700">
            <a:solidFill>
              <a:srgbClr val="1B181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140135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D4B87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391595" y="4306824"/>
            <a:ext cx="0" cy="411480"/>
          </a:xfrm>
          <a:prstGeom prst="line">
            <a:avLst/>
          </a:prstGeom>
          <a:noFill/>
          <a:ln w="12700">
            <a:solidFill>
              <a:srgbClr val="E9E2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2415" y="37216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اكتب موضوعك</a:t>
            </a:r>
            <a:endParaRPr lang="ar-SA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22415" y="40690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مثل «تقليل الهدر في مطعم وجبات سريعة»</a:t>
            </a:r>
            <a:endParaRPr lang="ar-SA" sz="1350" dirty="0"/>
          </a:p>
        </p:txBody>
      </p:sp>
      <p:sp>
        <p:nvSpPr>
          <p:cNvPr id="19" name="bstep-4"/>
          <p:cNvSpPr/>
          <p:nvPr/>
        </p:nvSpPr>
        <p:spPr>
          <a:xfrm>
            <a:off x="11140135" y="4764024"/>
            <a:ext cx="502920" cy="502920"/>
          </a:xfrm>
          <a:prstGeom prst="roundRect">
            <a:avLst>
              <a:gd name="adj" fmla="val 23636"/>
            </a:avLst>
          </a:prstGeom>
          <a:solidFill>
            <a:srgbClr val="1B1816"/>
          </a:solidFill>
          <a:ln w="12700">
            <a:solidFill>
              <a:srgbClr val="1B181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140135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800" b="1" dirty="0">
                <a:solidFill>
                  <a:srgbClr val="D4B87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22415" y="474573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أكّد الحجز</a:t>
            </a:r>
            <a:endParaRPr lang="ar-SA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522415" y="50932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3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يُثبت فوراً وتجد رابط الجلسة في لوحتك</a:t>
            </a:r>
            <a:endParaRPr lang="ar-SA" sz="1350" dirty="0"/>
          </a:p>
        </p:txBody>
      </p:sp>
      <p:sp>
        <p:nvSpPr>
          <p:cNvPr id="23" name="consultant-shot-frame"/>
          <p:cNvSpPr/>
          <p:nvPr/>
        </p:nvSpPr>
        <p:spPr>
          <a:xfrm>
            <a:off x="914400" y="1600200"/>
            <a:ext cx="4774031" cy="4526280"/>
          </a:xfrm>
          <a:prstGeom prst="roundRect">
            <a:avLst>
              <a:gd name="adj" fmla="val 2424"/>
            </a:avLst>
          </a:prstGeom>
          <a:solidFill>
            <a:srgbClr val="221F1E"/>
          </a:solidFill>
          <a:ln w="9525">
            <a:solidFill>
              <a:srgbClr val="2E2A27"/>
            </a:solidFill>
            <a:prstDash val="solid"/>
          </a:ln>
          <a:effectLst>
            <a:outerShdw blurRad="228600" dist="76200" dir="5400000" algn="bl" rotWithShape="0">
              <a:srgbClr val="1B1816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7263" y="168249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59247" y="168249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1231" y="168249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pic>
        <p:nvPicPr>
          <p:cNvPr id="27" name="Image 0" descr="consultant-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37944"/>
            <a:ext cx="4737455" cy="4270248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B1816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8F6F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رحلة الجلسة</a:t>
            </a:r>
            <a:endParaRPr lang="ar-SA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1B1816"/>
                </a:solidFill>
              </a:rPr>
              <a:t>الجلسة تتقدم باتجاه واحد، وموعدك محفوظ لك وحدك</a:t>
            </a:r>
            <a:endParaRPr lang="ar-SA" sz="3400" dirty="0"/>
          </a:p>
        </p:txBody>
      </p:sp>
      <p:sp>
        <p:nvSpPr>
          <p:cNvPr id="4" name="state-0"/>
          <p:cNvSpPr/>
          <p:nvPr/>
        </p:nvSpPr>
        <p:spPr>
          <a:xfrm>
            <a:off x="8991295" y="205740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91295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مجدولة</a:t>
            </a:r>
            <a:endParaRPr lang="ar-SA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91295" y="27157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فور تأكيد الحجز</a:t>
            </a:r>
            <a:endParaRPr lang="ar-SA" sz="1300" dirty="0"/>
          </a:p>
        </p:txBody>
      </p:sp>
      <p:sp>
        <p:nvSpPr>
          <p:cNvPr id="7" name="Shape 5"/>
          <p:cNvSpPr/>
          <p:nvPr/>
        </p:nvSpPr>
        <p:spPr>
          <a:xfrm flipH="1">
            <a:off x="8305495" y="2628900"/>
            <a:ext cx="594360" cy="0"/>
          </a:xfrm>
          <a:prstGeom prst="line">
            <a:avLst/>
          </a:prstGeom>
          <a:noFill/>
          <a:ln w="19050">
            <a:solidFill>
              <a:srgbClr val="8F6F33"/>
            </a:solidFill>
            <a:prstDash val="solid"/>
            <a:tailEnd type="triangle"/>
          </a:ln>
        </p:spPr>
      </p:sp>
      <p:sp>
        <p:nvSpPr>
          <p:cNvPr id="8" name="state-1"/>
          <p:cNvSpPr/>
          <p:nvPr/>
        </p:nvSpPr>
        <p:spPr>
          <a:xfrm>
            <a:off x="5562295" y="205740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62295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جارية</a:t>
            </a:r>
            <a:endParaRPr lang="ar-SA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562295" y="27157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يبدؤها المستشار</a:t>
            </a:r>
            <a:endParaRPr lang="ar-SA" sz="1300" dirty="0"/>
          </a:p>
        </p:txBody>
      </p:sp>
      <p:sp>
        <p:nvSpPr>
          <p:cNvPr id="11" name="Shape 9"/>
          <p:cNvSpPr/>
          <p:nvPr/>
        </p:nvSpPr>
        <p:spPr>
          <a:xfrm flipH="1">
            <a:off x="4876495" y="2628900"/>
            <a:ext cx="594360" cy="0"/>
          </a:xfrm>
          <a:prstGeom prst="line">
            <a:avLst/>
          </a:prstGeom>
          <a:noFill/>
          <a:ln w="19050">
            <a:solidFill>
              <a:srgbClr val="8F6F33"/>
            </a:solidFill>
            <a:prstDash val="solid"/>
            <a:tailEnd type="triangle"/>
          </a:ln>
        </p:spPr>
      </p:sp>
      <p:sp>
        <p:nvSpPr>
          <p:cNvPr id="12" name="state-2"/>
          <p:cNvSpPr/>
          <p:nvPr/>
        </p:nvSpPr>
        <p:spPr>
          <a:xfrm>
            <a:off x="2133295" y="205740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E9F0EC"/>
          </a:solidFill>
          <a:ln w="19050">
            <a:solidFill>
              <a:srgbClr val="4A6B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33295" y="2240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مكتملة</a:t>
            </a:r>
            <a:endParaRPr lang="ar-SA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133295" y="27157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تُحفظ في سجلك</a:t>
            </a:r>
            <a:endParaRPr lang="ar-SA" sz="1300" dirty="0"/>
          </a:p>
        </p:txBody>
      </p:sp>
      <p:sp>
        <p:nvSpPr>
          <p:cNvPr id="15" name="state-cancelled"/>
          <p:cNvSpPr/>
          <p:nvPr/>
        </p:nvSpPr>
        <p:spPr>
          <a:xfrm>
            <a:off x="5562295" y="3977640"/>
            <a:ext cx="2651760" cy="1143000"/>
          </a:xfrm>
          <a:prstGeom prst="roundRect">
            <a:avLst>
              <a:gd name="adj" fmla="val 12800"/>
            </a:avLst>
          </a:prstGeom>
          <a:solidFill>
            <a:srgbClr val="F6E9E6"/>
          </a:solidFill>
          <a:ln w="19050">
            <a:solidFill>
              <a:srgbClr val="9E47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62295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ملغاة</a:t>
            </a:r>
            <a:endParaRPr lang="ar-SA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562295" y="4636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3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يعود الموعد متاحاً للحجز</a:t>
            </a:r>
            <a:endParaRPr lang="ar-SA" sz="1300" dirty="0"/>
          </a:p>
        </p:txBody>
      </p:sp>
      <p:sp>
        <p:nvSpPr>
          <p:cNvPr id="18" name="Shape 16"/>
          <p:cNvSpPr/>
          <p:nvPr/>
        </p:nvSpPr>
        <p:spPr>
          <a:xfrm>
            <a:off x="6888175" y="3273552"/>
            <a:ext cx="0" cy="630936"/>
          </a:xfrm>
          <a:prstGeom prst="line">
            <a:avLst/>
          </a:prstGeom>
          <a:noFill/>
          <a:ln w="15875">
            <a:solidFill>
              <a:srgbClr val="9E473C"/>
            </a:solidFill>
            <a:prstDash val="dash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025335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ar-SA" altLang="en-US" sz="1200" dirty="0">
                <a:solidFill>
                  <a:srgbClr val="9E473C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إلغاء من أي طرف</a:t>
            </a:r>
            <a:endParaRPr lang="ar-SA" sz="1200" dirty="0"/>
          </a:p>
        </p:txBody>
      </p:sp>
      <p:sp>
        <p:nvSpPr>
          <p:cNvPr id="20" name="double-booking"/>
          <p:cNvSpPr/>
          <p:nvPr/>
        </p:nvSpPr>
        <p:spPr>
          <a:xfrm>
            <a:off x="2130552" y="3977640"/>
            <a:ext cx="3291840" cy="1143000"/>
          </a:xfrm>
          <a:prstGeom prst="roundRect">
            <a:avLst>
              <a:gd name="adj" fmla="val 12800"/>
            </a:avLst>
          </a:prstGeom>
          <a:solidFill>
            <a:srgbClr val="FAF5EA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2359152" y="4114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حجز مزدوج أبداً</a:t>
            </a:r>
            <a:endParaRPr lang="ar-SA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359152" y="4480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3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لو حاول شخصان حجز الموعد نفسه في اللحظة ذاتها، ينجح واحد فقط.</a:t>
            </a:r>
            <a:endParaRPr lang="ar-SA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B1816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8F6F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للمستشارين</a:t>
            </a:r>
            <a:endParaRPr lang="ar-SA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1B1816"/>
                </a:solidFill>
              </a:rPr>
              <a:t>خبرتك تستحق منصة تعرضها باحتراف</a:t>
            </a:r>
            <a:endParaRPr lang="ar-SA" sz="3400" dirty="0"/>
          </a:p>
        </p:txBody>
      </p:sp>
      <p:sp>
        <p:nvSpPr>
          <p:cNvPr id="4" name="cons-shield"/>
          <p:cNvSpPr/>
          <p:nvPr/>
        </p:nvSpPr>
        <p:spPr>
          <a:xfrm>
            <a:off x="8158277" y="1737360"/>
            <a:ext cx="3484778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5" name="tile-shield"/>
          <p:cNvSpPr/>
          <p:nvPr/>
        </p:nvSpPr>
        <p:spPr>
          <a:xfrm>
            <a:off x="10728655" y="2057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B1816"/>
          </a:solidFill>
          <a:ln w="9525">
            <a:solidFill>
              <a:srgbClr val="1B1816"/>
            </a:solidFill>
            <a:prstDash val="solid"/>
          </a:ln>
        </p:spPr>
      </p:sp>
      <p:pic>
        <p:nvPicPr>
          <p:cNvPr id="6" name="Image 0" descr="shiel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8675" y="22174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78317" y="292608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اعتماد يضمن الجودة</a:t>
            </a:r>
            <a:endParaRPr lang="ar-SA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478317" y="3520440"/>
            <a:ext cx="28446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ar-SA" altLang="en-US" sz="14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تراجع إدارة المنصة نبذة خبرتك وتعتمدها، فيظهر ملفك للعملاء بعلامة «مستشار معتمد».</a:t>
            </a:r>
            <a:endParaRPr lang="ar-SA" sz="1450" dirty="0"/>
          </a:p>
        </p:txBody>
      </p:sp>
      <p:sp>
        <p:nvSpPr>
          <p:cNvPr id="9" name="cons-calendar"/>
          <p:cNvSpPr/>
          <p:nvPr/>
        </p:nvSpPr>
        <p:spPr>
          <a:xfrm>
            <a:off x="4353458" y="1737360"/>
            <a:ext cx="3484778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10" name="tile-calendar"/>
          <p:cNvSpPr/>
          <p:nvPr/>
        </p:nvSpPr>
        <p:spPr>
          <a:xfrm>
            <a:off x="6923837" y="2057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11" name="Image 1" descr="calend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857" y="22174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73498" y="292608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مواعيدك وأسعارك بيدك</a:t>
            </a:r>
            <a:endParaRPr lang="ar-SA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73498" y="3520440"/>
            <a:ext cx="28446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ar-SA" altLang="en-US" sz="14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أضف حتى خمسين موعداً دفعة واحدة بأسعارها، والمنصة تمنع تداخلها تلقائياً.</a:t>
            </a:r>
            <a:endParaRPr lang="ar-SA" sz="1450" dirty="0"/>
          </a:p>
        </p:txBody>
      </p:sp>
      <p:sp>
        <p:nvSpPr>
          <p:cNvPr id="14" name="cons-check-circle"/>
          <p:cNvSpPr/>
          <p:nvPr/>
        </p:nvSpPr>
        <p:spPr>
          <a:xfrm>
            <a:off x="548640" y="1737360"/>
            <a:ext cx="3484778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sp>
        <p:nvSpPr>
          <p:cNvPr id="15" name="tile-check-circle"/>
          <p:cNvSpPr/>
          <p:nvPr/>
        </p:nvSpPr>
        <p:spPr>
          <a:xfrm>
            <a:off x="3119018" y="2057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16" name="Image 2" descr="check-circ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9038" y="22174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8680" y="292608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الجلسات من لوحتك</a:t>
            </a:r>
            <a:endParaRPr lang="ar-SA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3520440"/>
            <a:ext cx="28446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ar-SA" altLang="en-US" sz="145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الحجوزات الواردة باسم العميل وموضوعه وملاحظاته، وتبدأ الجلسة وتنهيها بضغطة.</a:t>
            </a:r>
            <a:endParaRPr lang="ar-SA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B1816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8F6F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لوحة التحكم</a:t>
            </a:r>
            <a:endParaRPr lang="ar-SA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1B1816"/>
                </a:solidFill>
              </a:rPr>
              <a:t>كل شيء أمامك في لوحة واحدة</a:t>
            </a:r>
            <a:endParaRPr lang="ar-SA" sz="3400" dirty="0"/>
          </a:p>
        </p:txBody>
      </p:sp>
      <p:sp>
        <p:nvSpPr>
          <p:cNvPr id="4" name="dashboard-shot-frame"/>
          <p:cNvSpPr/>
          <p:nvPr/>
        </p:nvSpPr>
        <p:spPr>
          <a:xfrm>
            <a:off x="548640" y="1600200"/>
            <a:ext cx="7315200" cy="4403344"/>
          </a:xfrm>
          <a:prstGeom prst="roundRect">
            <a:avLst>
              <a:gd name="adj" fmla="val 2492"/>
            </a:avLst>
          </a:prstGeom>
          <a:solidFill>
            <a:srgbClr val="221F1E"/>
          </a:solidFill>
          <a:ln w="9525">
            <a:solidFill>
              <a:srgbClr val="2E2A27"/>
            </a:solidFill>
            <a:prstDash val="solid"/>
          </a:ln>
          <a:effectLst>
            <a:outerShdw blurRad="228600" dist="76200" dir="5400000" algn="bl" rotWithShape="0">
              <a:srgbClr val="1B181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62672" y="168249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34656" y="168249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1682496"/>
            <a:ext cx="73152" cy="73152"/>
          </a:xfrm>
          <a:prstGeom prst="ellipse">
            <a:avLst/>
          </a:prstGeom>
          <a:solidFill>
            <a:srgbClr val="4A4440"/>
          </a:solidFill>
          <a:ln w="12700">
            <a:solidFill>
              <a:srgbClr val="4A4440"/>
            </a:solidFill>
            <a:prstDash val="solid"/>
          </a:ln>
        </p:spPr>
      </p:sp>
      <p:pic>
        <p:nvPicPr>
          <p:cNvPr id="8" name="Image 0" descr="dashboard-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37944"/>
            <a:ext cx="7278624" cy="4147312"/>
          </a:xfrm>
          <a:prstGeom prst="rect">
            <a:avLst/>
          </a:prstGeom>
        </p:spPr>
      </p:pic>
      <p:sp>
        <p:nvSpPr>
          <p:cNvPr id="9" name="tile-calendar"/>
          <p:cNvSpPr/>
          <p:nvPr/>
        </p:nvSpPr>
        <p:spPr>
          <a:xfrm>
            <a:off x="11076127" y="17830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10" name="Image 1" descr="calend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7859" y="19248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183880" y="1856232"/>
            <a:ext cx="26819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جلساتك القادمة والسابقة</a:t>
            </a:r>
            <a:endParaRPr lang="ar-SA" sz="1600" dirty="0"/>
          </a:p>
        </p:txBody>
      </p:sp>
      <p:sp>
        <p:nvSpPr>
          <p:cNvPr id="12" name="tile-clock"/>
          <p:cNvSpPr/>
          <p:nvPr/>
        </p:nvSpPr>
        <p:spPr>
          <a:xfrm>
            <a:off x="11076127" y="277063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13" name="Image 2" descr="clo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7859" y="2912364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83880" y="2843784"/>
            <a:ext cx="26819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جلسات اليوم بنظرة</a:t>
            </a:r>
            <a:endParaRPr lang="ar-SA" sz="1600" dirty="0"/>
          </a:p>
        </p:txBody>
      </p:sp>
      <p:sp>
        <p:nvSpPr>
          <p:cNvPr id="15" name="tile-layers"/>
          <p:cNvSpPr/>
          <p:nvPr/>
        </p:nvSpPr>
        <p:spPr>
          <a:xfrm>
            <a:off x="11076127" y="3758184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16" name="Image 3" descr="laye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7859" y="3899916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183880" y="3831336"/>
            <a:ext cx="26819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طلباتك في السوق وحالتها</a:t>
            </a:r>
            <a:endParaRPr lang="ar-SA" sz="1600" dirty="0"/>
          </a:p>
        </p:txBody>
      </p:sp>
      <p:sp>
        <p:nvSpPr>
          <p:cNvPr id="18" name="tile-check-circle"/>
          <p:cNvSpPr/>
          <p:nvPr/>
        </p:nvSpPr>
        <p:spPr>
          <a:xfrm>
            <a:off x="11076127" y="4745736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AF5EA"/>
          </a:solidFill>
          <a:ln w="9525">
            <a:solidFill>
              <a:srgbClr val="F5ECD9"/>
            </a:solidFill>
            <a:prstDash val="solid"/>
          </a:ln>
        </p:spPr>
      </p:sp>
      <p:pic>
        <p:nvPicPr>
          <p:cNvPr id="19" name="Image 4" descr="check-circ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7859" y="4887468"/>
            <a:ext cx="283464" cy="28346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183880" y="4818888"/>
            <a:ext cx="26819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أرقامك المهمة في الأعلى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B1816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b="1" dirty="0">
                <a:solidFill>
                  <a:srgbClr val="8F6F3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على جوالك وبأمان</a:t>
            </a:r>
            <a:endParaRPr lang="ar-SA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400" b="1" dirty="0">
                <a:solidFill>
                  <a:srgbClr val="1B1816"/>
                </a:solidFill>
              </a:rPr>
              <a:t>تعمل على الجوال، وتحمي بياناتك</a:t>
            </a:r>
            <a:endParaRPr lang="ar-SA" sz="3400" dirty="0"/>
          </a:p>
        </p:txBody>
      </p:sp>
      <p:sp>
        <p:nvSpPr>
          <p:cNvPr id="4" name="phone"/>
          <p:cNvSpPr/>
          <p:nvPr/>
        </p:nvSpPr>
        <p:spPr>
          <a:xfrm>
            <a:off x="914400" y="1554480"/>
            <a:ext cx="2295144" cy="4145571"/>
          </a:xfrm>
          <a:prstGeom prst="roundRect">
            <a:avLst>
              <a:gd name="adj" fmla="val 11952"/>
            </a:avLst>
          </a:prstGeom>
          <a:solidFill>
            <a:srgbClr val="1B1816"/>
          </a:solidFill>
          <a:ln w="12700">
            <a:solidFill>
              <a:srgbClr val="1B1816"/>
            </a:solidFill>
            <a:prstDash val="solid"/>
          </a:ln>
          <a:effectLst>
            <a:outerShdw blurRad="203200" dist="76200" dir="5400000" algn="bl" rotWithShape="0">
              <a:srgbClr val="1B1816">
                <a:alpha val="30000"/>
              </a:srgbClr>
            </a:outerShdw>
          </a:effectLst>
        </p:spPr>
      </p:sp>
      <p:pic>
        <p:nvPicPr>
          <p:cNvPr id="5" name="Image 0" descr="mobi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7552" y="1627632"/>
            <a:ext cx="2148840" cy="39992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840480" y="1691640"/>
            <a:ext cx="7802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1B181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بدون تطبيق للتحميل</a:t>
            </a:r>
            <a:endParaRPr lang="ar-SA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2148840"/>
            <a:ext cx="7802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00" dirty="0">
                <a:solidFill>
                  <a:srgbClr val="5B555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الموقع من أي متصفح، وكل الصفحات تتكيّف مع شاشتك.</a:t>
            </a:r>
            <a:endParaRPr lang="ar-SA" sz="1500" dirty="0"/>
          </a:p>
        </p:txBody>
      </p:sp>
      <p:sp>
        <p:nvSpPr>
          <p:cNvPr id="8" name="priv-0"/>
          <p:cNvSpPr/>
          <p:nvPr/>
        </p:nvSpPr>
        <p:spPr>
          <a:xfrm>
            <a:off x="3840480" y="2880360"/>
            <a:ext cx="7802575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855" y="300837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69080" y="2953512"/>
            <a:ext cx="68881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00" dirty="0">
                <a:solidFill>
                  <a:srgbClr val="2C2C2C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بيانات التواصل للأعضاء المسجلين فقط</a:t>
            </a:r>
            <a:endParaRPr lang="ar-SA" sz="1500" dirty="0"/>
          </a:p>
        </p:txBody>
      </p:sp>
      <p:sp>
        <p:nvSpPr>
          <p:cNvPr id="11" name="priv-1"/>
          <p:cNvSpPr/>
          <p:nvPr/>
        </p:nvSpPr>
        <p:spPr>
          <a:xfrm>
            <a:off x="3840480" y="3566160"/>
            <a:ext cx="7802575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855" y="369417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069080" y="3639312"/>
            <a:ext cx="68881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00" dirty="0">
                <a:solidFill>
                  <a:srgbClr val="2C2C2C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تفاصيل الجلسة وملاحظاتك لطرفي الجلسة فقط</a:t>
            </a:r>
            <a:endParaRPr lang="ar-SA" sz="1500" dirty="0"/>
          </a:p>
        </p:txBody>
      </p:sp>
      <p:sp>
        <p:nvSpPr>
          <p:cNvPr id="14" name="priv-2"/>
          <p:cNvSpPr/>
          <p:nvPr/>
        </p:nvSpPr>
        <p:spPr>
          <a:xfrm>
            <a:off x="3840480" y="4251960"/>
            <a:ext cx="7802575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855" y="437997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069080" y="4325112"/>
            <a:ext cx="68881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00" dirty="0">
                <a:solidFill>
                  <a:srgbClr val="2C2C2C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كلمات المرور محفوظة مشفّرة ولا يطّلع عليها أحد</a:t>
            </a:r>
            <a:endParaRPr lang="ar-SA" sz="1500" dirty="0"/>
          </a:p>
        </p:txBody>
      </p:sp>
      <p:sp>
        <p:nvSpPr>
          <p:cNvPr id="17" name="priv-3"/>
          <p:cNvSpPr/>
          <p:nvPr/>
        </p:nvSpPr>
        <p:spPr>
          <a:xfrm>
            <a:off x="3840480" y="4937760"/>
            <a:ext cx="7802575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9E2D6"/>
            </a:solidFill>
            <a:prstDash val="solid"/>
          </a:ln>
          <a:effectLst>
            <a:outerShdw blurRad="127000" dist="38100" dir="5400000" algn="bl" rotWithShape="0">
              <a:srgbClr val="1B1816">
                <a:alpha val="8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855" y="5065776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069080" y="5010912"/>
            <a:ext cx="68881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500" dirty="0">
                <a:solidFill>
                  <a:srgbClr val="2C2C2C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اتصال مشفّر دائماً وحماية من تخمين كلمات المرور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3291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1B1816"/>
                </a:solidFill>
              </a:defRPr>
            </a:lvl1pPr>
          </a:lstStyle>
          <a:p>
            <a:pPr algn="l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tter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/Users/abuhe/Desktop/my projects/M63m.my/marketing/assets/../logo/logo-on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861" y="502920"/>
            <a:ext cx="1425194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840480" y="1554480"/>
            <a:ext cx="7802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الآن، والتسجيل </a:t>
            </a:r>
            <a:r>
              <a:rPr lang="ar-SA" altLang="en-US" sz="4000" b="1" dirty="0">
                <a:solidFill>
                  <a:srgbClr val="C5A05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مجاني</a:t>
            </a:r>
            <a:endParaRPr lang="ar-SA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3840480" y="2423160"/>
            <a:ext cx="7802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rgbClr val="CBC1B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استشارتك القادمة، وموظفك القادم، ومورّدك القادم: كلها على بُعد ضغطة.</a:t>
            </a:r>
            <a:endParaRPr lang="ar-SA" sz="1600" dirty="0"/>
          </a:p>
        </p:txBody>
      </p:sp>
      <p:sp>
        <p:nvSpPr>
          <p:cNvPr id="6" name="close-step-01"/>
          <p:cNvSpPr/>
          <p:nvPr/>
        </p:nvSpPr>
        <p:spPr>
          <a:xfrm>
            <a:off x="9225077" y="3474720"/>
            <a:ext cx="2417978" cy="1920240"/>
          </a:xfrm>
          <a:prstGeom prst="roundRect">
            <a:avLst>
              <a:gd name="adj" fmla="val 761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6B5A3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499397" y="3657600"/>
            <a:ext cx="1869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2800" b="1" dirty="0">
                <a:solidFill>
                  <a:srgbClr val="C5A05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499397" y="4206240"/>
            <a:ext cx="1869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أنشئ حسابك</a:t>
            </a:r>
            <a:endParaRPr lang="ar-SA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9499397" y="4617720"/>
            <a:ext cx="1869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dirty="0">
                <a:solidFill>
                  <a:srgbClr val="CBC1B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صاحب منشأة، مستشار، أو مورد وباحث عن عمل</a:t>
            </a:r>
            <a:endParaRPr lang="ar-SA" sz="1250" dirty="0"/>
          </a:p>
        </p:txBody>
      </p:sp>
      <p:sp>
        <p:nvSpPr>
          <p:cNvPr id="10" name="close-step-02"/>
          <p:cNvSpPr/>
          <p:nvPr/>
        </p:nvSpPr>
        <p:spPr>
          <a:xfrm>
            <a:off x="6532778" y="3474720"/>
            <a:ext cx="2417978" cy="1920240"/>
          </a:xfrm>
          <a:prstGeom prst="roundRect">
            <a:avLst>
              <a:gd name="adj" fmla="val 761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6B5A3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07098" y="3657600"/>
            <a:ext cx="1869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2800" b="1" dirty="0">
                <a:solidFill>
                  <a:srgbClr val="C5A05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6807098" y="4206240"/>
            <a:ext cx="1869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انشر أو احجز</a:t>
            </a:r>
            <a:endParaRPr lang="ar-SA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807098" y="4617720"/>
            <a:ext cx="1869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dirty="0">
                <a:solidFill>
                  <a:srgbClr val="CBC1B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طلبك في قسمه، أو موعد مع مستشار</a:t>
            </a:r>
            <a:endParaRPr lang="ar-SA" sz="1250" dirty="0"/>
          </a:p>
        </p:txBody>
      </p:sp>
      <p:sp>
        <p:nvSpPr>
          <p:cNvPr id="14" name="close-step-03"/>
          <p:cNvSpPr/>
          <p:nvPr/>
        </p:nvSpPr>
        <p:spPr>
          <a:xfrm>
            <a:off x="3840480" y="3474720"/>
            <a:ext cx="2417978" cy="1920240"/>
          </a:xfrm>
          <a:prstGeom prst="roundRect">
            <a:avLst>
              <a:gd name="adj" fmla="val 7619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6B5A3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114800" y="3657600"/>
            <a:ext cx="18693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en-US" sz="2800" b="1" dirty="0">
                <a:solidFill>
                  <a:srgbClr val="C5A059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4114800" y="4206240"/>
            <a:ext cx="18693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من لوحتك</a:t>
            </a:r>
            <a:endParaRPr lang="ar-SA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114800" y="4617720"/>
            <a:ext cx="1869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250" dirty="0">
                <a:solidFill>
                  <a:srgbClr val="CBC1B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جلساتك وطلباتك في مكان واحد</a:t>
            </a:r>
            <a:endParaRPr lang="ar-SA" sz="1250" dirty="0"/>
          </a:p>
        </p:txBody>
      </p:sp>
      <p:sp>
        <p:nvSpPr>
          <p:cNvPr id="18" name="qr-card"/>
          <p:cNvSpPr/>
          <p:nvPr/>
        </p:nvSpPr>
        <p:spPr>
          <a:xfrm>
            <a:off x="548640" y="2743200"/>
            <a:ext cx="2651760" cy="265176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2" descr="QR code to m63m-my.vercel.ap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971800"/>
            <a:ext cx="2194560" cy="21945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48640" y="5623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en-US" sz="1500" b="1" dirty="0">
                <a:solidFill>
                  <a:srgbClr val="D4B87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m63m-my.vercel.app</a:t>
            </a:r>
            <a:endParaRPr lang="en-US" sz="1500" dirty="0"/>
          </a:p>
        </p:txBody>
      </p:sp>
      <p:sp>
        <p:nvSpPr>
          <p:cNvPr id="2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ar-SA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3am Roast &amp; Gold">
  <a:themeElements>
    <a:clrScheme name="Mat3am Roast &amp; Gold">
      <a:dk1>
        <a:srgbClr val="1B1816"/>
      </a:dk1>
      <a:lt1>
        <a:srgbClr val="FFFFFF"/>
      </a:lt1>
      <a:dk2>
        <a:srgbClr val="2C2C2C"/>
      </a:dk2>
      <a:lt2>
        <a:srgbClr val="FBF9F5"/>
      </a:lt2>
      <a:accent1>
        <a:srgbClr val="C5A059"/>
      </a:accent1>
      <a:accent2>
        <a:srgbClr val="8F6F33"/>
      </a:accent2>
      <a:accent3>
        <a:srgbClr val="4A6B5B"/>
      </a:accent3>
      <a:accent4>
        <a:srgbClr val="9E473C"/>
      </a:accent4>
      <a:accent5>
        <a:srgbClr val="D4B87A"/>
      </a:accent5>
      <a:accent6>
        <a:srgbClr val="5B5550"/>
      </a:accent6>
      <a:hlink>
        <a:srgbClr val="8F6F33"/>
      </a:hlink>
      <a:folHlink>
        <a:srgbClr val="5B5550"/>
      </a:folHlink>
    </a:clrScheme>
    <a:fontScheme name="Mat3am Roast &amp; Gold">
      <a:majorFont>
        <a:latin typeface="Tajaw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jaw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921</Words>
  <Application>Microsoft Office PowerPoint</Application>
  <PresentationFormat>شاشة عريضة</PresentationFormat>
  <Paragraphs>156</Paragraphs>
  <Slides>12</Slides>
  <Notes>12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5" baseType="lpstr">
      <vt:lpstr>Arial</vt:lpstr>
      <vt:lpstr>Tajawal</vt:lpstr>
      <vt:lpstr>Mat3am Roast &amp; Gold</vt:lpstr>
      <vt:lpstr>عرض تقديمي في PowerPoint</vt:lpstr>
      <vt:lpstr>من قنوات متفرقة إلى منصة واحدة منظّمة</vt:lpstr>
      <vt:lpstr>ثلاث خدمات في منصة واحدة</vt:lpstr>
      <vt:lpstr>لكل طرف في القطاع لوحة تحكم تناسبه</vt:lpstr>
      <vt:lpstr>أربعة أقسام تغطي تشغيل مطعمك</vt:lpstr>
      <vt:lpstr>انشر طلبك في دقيقة بأربع خطوات</vt:lpstr>
      <vt:lpstr>اسأل من جرّب قبلك، واحجز موعدك مباشرة</vt:lpstr>
      <vt:lpstr>الجلسة تتقدم باتجاه واحد، وموعدك محفوظ لك وحدك</vt:lpstr>
      <vt:lpstr>خبرتك تستحق منصة تعرضها باحتراف</vt:lpstr>
      <vt:lpstr>كل شيء أمامك في لوحة واحدة</vt:lpstr>
      <vt:lpstr>تعمل على الجوال، وتحمي بياناتك</vt:lpstr>
      <vt:lpstr>عرض تقديمي في PowerPoint</vt:lpstr>
    </vt:vector>
  </TitlesOfParts>
  <Company>m63m.my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منصة مطعم m63m.my — العرض التعريفي</dc:title>
  <dc:subject>PptxGenJS Presentation</dc:subject>
  <dc:creator>مطعم m63m.my</dc:creator>
  <cp:lastModifiedBy>abdulrhman alansary</cp:lastModifiedBy>
  <cp:revision>2</cp:revision>
  <dcterms:created xsi:type="dcterms:W3CDTF">2026-10-21T20:19:06Z</dcterms:created>
  <dcterms:modified xsi:type="dcterms:W3CDTF">2026-10-21T20:19:14Z</dcterms:modified>
</cp:coreProperties>
</file>